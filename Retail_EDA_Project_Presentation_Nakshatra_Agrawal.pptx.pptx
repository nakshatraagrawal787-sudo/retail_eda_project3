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Calibri (MS)" charset="1" panose="020F050202020403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220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47079" cy="10295039"/>
            <a:chOff x="0" y="0"/>
            <a:chExt cx="329438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43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329438">
                  <a:moveTo>
                    <a:pt x="0" y="0"/>
                  </a:moveTo>
                  <a:lnTo>
                    <a:pt x="329438" y="0"/>
                  </a:lnTo>
                  <a:lnTo>
                    <a:pt x="32943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89577" y="1784528"/>
            <a:ext cx="16014659" cy="167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RETAIL DATA EXPLORATORY ANALYSIS</a:t>
            </a:r>
          </a:p>
          <a:p>
            <a:pPr algn="l">
              <a:lnSpc>
                <a:spcPts val="3422"/>
              </a:lnSpc>
            </a:pPr>
            <a:r>
              <a:rPr lang="en-US" sz="2852">
                <a:solidFill>
                  <a:srgbClr val="CDDCEB"/>
                </a:solidFill>
                <a:latin typeface="Calibri (MS)"/>
                <a:ea typeface="Calibri (MS)"/>
                <a:cs typeface="Calibri (MS)"/>
                <a:sym typeface="Calibri (MS)"/>
              </a:rPr>
              <a:t>From raw transactions to actionable business insights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86698" y="5547884"/>
            <a:ext cx="7709840" cy="2150516"/>
            <a:chOff x="0" y="0"/>
            <a:chExt cx="10279786" cy="28673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79761" cy="2867406"/>
            </a:xfrm>
            <a:custGeom>
              <a:avLst/>
              <a:gdLst/>
              <a:ahLst/>
              <a:cxnLst/>
              <a:rect r="r" b="b" t="t" l="l"/>
              <a:pathLst>
                <a:path h="2867406" w="10279761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9801860" y="0"/>
                  </a:lnTo>
                  <a:cubicBezTo>
                    <a:pt x="10065766" y="0"/>
                    <a:pt x="10279761" y="213995"/>
                    <a:pt x="10279761" y="477901"/>
                  </a:cubicBezTo>
                  <a:lnTo>
                    <a:pt x="10279761" y="2389505"/>
                  </a:lnTo>
                  <a:cubicBezTo>
                    <a:pt x="10279761" y="2653411"/>
                    <a:pt x="10065766" y="2867406"/>
                    <a:pt x="9801860" y="2867406"/>
                  </a:cubicBezTo>
                  <a:lnTo>
                    <a:pt x="477901" y="2867406"/>
                  </a:lnTo>
                  <a:cubicBezTo>
                    <a:pt x="213995" y="2867406"/>
                    <a:pt x="0" y="2653411"/>
                    <a:pt x="0" y="2389505"/>
                  </a:cubicBezTo>
                  <a:close/>
                </a:path>
              </a:pathLst>
            </a:custGeom>
            <a:solidFill>
              <a:srgbClr val="1C2F49"/>
            </a:solidFill>
            <a:ln w="22878" cap="sq">
              <a:solidFill>
                <a:srgbClr val="70B1E6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189577" y="5722134"/>
            <a:ext cx="725700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</a:p>
          <a:p>
            <a:pPr algn="l">
              <a:lnSpc>
                <a:spcPts val="3721"/>
              </a:lnSpc>
            </a:pPr>
            <a:r>
              <a:rPr lang="en-US" sz="3101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Made by – Nakshatra Agrawal</a:t>
            </a:r>
          </a:p>
          <a:p>
            <a:pPr algn="l">
              <a:lnSpc>
                <a:spcPts val="3721"/>
              </a:lnSpc>
            </a:pPr>
            <a:r>
              <a:rPr lang="en-US" sz="3101" spc="-93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Submitted to – Nexthikes IT Solutions Pvt Ltd.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72822" y="5669185"/>
            <a:ext cx="5582345" cy="180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100,000</a:t>
            </a:r>
          </a:p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CDDCEB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transactions analyzed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Executive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| CONTEXT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53719" y="1708690"/>
            <a:ext cx="3240081" cy="1455601"/>
            <a:chOff x="0" y="0"/>
            <a:chExt cx="4320108" cy="19408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17028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100K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54033" y="1708690"/>
            <a:ext cx="3240081" cy="1455601"/>
            <a:chOff x="0" y="0"/>
            <a:chExt cx="4320108" cy="19408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717342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382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₹64,166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mean final price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954347" y="1708690"/>
            <a:ext cx="3240081" cy="1455601"/>
            <a:chOff x="0" y="0"/>
            <a:chExt cx="4320108" cy="1940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217665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0.731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price ↔ final price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54670" y="1708690"/>
            <a:ext cx="3240081" cy="1455601"/>
            <a:chOff x="0" y="0"/>
            <a:chExt cx="4320108" cy="1940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717969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BE4B4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15.05%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highest return rate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8214" y="3772948"/>
            <a:ext cx="9837630" cy="503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The notebook analyzes customer, product, pricing, discount, delivery, shipping and return behavior.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Transaction value is driven primarily by product price and quantity rather than customer age.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Premium customers show the highest average transaction value, while category volumes remain broadly balanced.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Discounting is associated with lower average final transaction value; high-value transactions create a meaningful right tail.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587639" y="3763413"/>
            <a:ext cx="5239036" cy="3042761"/>
            <a:chOff x="0" y="0"/>
            <a:chExt cx="6985381" cy="40570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85381" cy="4057015"/>
            </a:xfrm>
            <a:custGeom>
              <a:avLst/>
              <a:gdLst/>
              <a:ahLst/>
              <a:cxnLst/>
              <a:rect r="r" b="b" t="t" l="l"/>
              <a:pathLst>
                <a:path h="4057015" w="6985381">
                  <a:moveTo>
                    <a:pt x="0" y="676148"/>
                  </a:moveTo>
                  <a:cubicBezTo>
                    <a:pt x="0" y="302768"/>
                    <a:pt x="302768" y="0"/>
                    <a:pt x="676148" y="0"/>
                  </a:cubicBezTo>
                  <a:lnTo>
                    <a:pt x="6309233" y="0"/>
                  </a:lnTo>
                  <a:cubicBezTo>
                    <a:pt x="6682740" y="0"/>
                    <a:pt x="6985381" y="302768"/>
                    <a:pt x="6985381" y="676148"/>
                  </a:cubicBezTo>
                  <a:lnTo>
                    <a:pt x="6985381" y="3380867"/>
                  </a:lnTo>
                  <a:cubicBezTo>
                    <a:pt x="6985381" y="3754374"/>
                    <a:pt x="6682613" y="4057015"/>
                    <a:pt x="6309233" y="4057015"/>
                  </a:cubicBezTo>
                  <a:lnTo>
                    <a:pt x="676148" y="4057015"/>
                  </a:lnTo>
                  <a:cubicBezTo>
                    <a:pt x="302768" y="4057015"/>
                    <a:pt x="0" y="3754247"/>
                    <a:pt x="0" y="3380867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937597" y="3937664"/>
            <a:ext cx="4539110" cy="264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Management takeaway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Focus analysis and commercial decisions on basket economics, product pricing, customer segment value and return behavior—not age alone.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Dataset &amp; Analysis Objective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| CONTEXT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2356" y="1708690"/>
            <a:ext cx="3240081" cy="1455601"/>
            <a:chOff x="0" y="0"/>
            <a:chExt cx="4320108" cy="19408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85665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18–65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age range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522670" y="1708690"/>
            <a:ext cx="3240081" cy="1455601"/>
            <a:chOff x="0" y="0"/>
            <a:chExt cx="4320108" cy="19408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4785979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382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₹500–₹60K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price range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022984" y="1708690"/>
            <a:ext cx="3240081" cy="1455601"/>
            <a:chOff x="0" y="0"/>
            <a:chExt cx="4320108" cy="19408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286293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1–4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items / transaction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523297" y="1708690"/>
            <a:ext cx="3240081" cy="1455601"/>
            <a:chOff x="0" y="0"/>
            <a:chExt cx="4320108" cy="19408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20159" cy="1940814"/>
            </a:xfrm>
            <a:custGeom>
              <a:avLst/>
              <a:gdLst/>
              <a:ahLst/>
              <a:cxnLst/>
              <a:rect r="r" b="b" t="t" l="l"/>
              <a:pathLst>
                <a:path h="1940814" w="432015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3996690" y="0"/>
                  </a:lnTo>
                  <a:cubicBezTo>
                    <a:pt x="4175379" y="0"/>
                    <a:pt x="4320159" y="144780"/>
                    <a:pt x="4320159" y="323469"/>
                  </a:cubicBezTo>
                  <a:lnTo>
                    <a:pt x="4320159" y="1617345"/>
                  </a:lnTo>
                  <a:cubicBezTo>
                    <a:pt x="4320159" y="1796034"/>
                    <a:pt x="4175379" y="1940814"/>
                    <a:pt x="399669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786606" y="1822628"/>
            <a:ext cx="2713463" cy="117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BE4B4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1–10 days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delivery range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6842" y="3782473"/>
            <a:ext cx="8876757" cy="488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Dataset size: 100,000 retail transactions.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Customer segments: New, Regular and Premium.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Product categories include Health, Beauty, Electronics, Fashion, Grocery and Home &amp; Kitchen.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Core numerical fields analyzed: age, product_price, quantity, discount_percentage, final_price and delivery_days.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Analysis objective: understand distributions, relationships, outliers and commercial patterns.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695403" y="3832041"/>
            <a:ext cx="5788104" cy="3042761"/>
            <a:chOff x="0" y="0"/>
            <a:chExt cx="7717472" cy="405701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17409" cy="4057015"/>
            </a:xfrm>
            <a:custGeom>
              <a:avLst/>
              <a:gdLst/>
              <a:ahLst/>
              <a:cxnLst/>
              <a:rect r="r" b="b" t="t" l="l"/>
              <a:pathLst>
                <a:path h="4057015" w="7717409">
                  <a:moveTo>
                    <a:pt x="0" y="676148"/>
                  </a:moveTo>
                  <a:cubicBezTo>
                    <a:pt x="0" y="302768"/>
                    <a:pt x="302768" y="0"/>
                    <a:pt x="676148" y="0"/>
                  </a:cubicBezTo>
                  <a:lnTo>
                    <a:pt x="7041261" y="0"/>
                  </a:lnTo>
                  <a:cubicBezTo>
                    <a:pt x="7414768" y="0"/>
                    <a:pt x="7717409" y="302768"/>
                    <a:pt x="7717409" y="676148"/>
                  </a:cubicBezTo>
                  <a:lnTo>
                    <a:pt x="7717409" y="3380867"/>
                  </a:lnTo>
                  <a:cubicBezTo>
                    <a:pt x="7717409" y="3754374"/>
                    <a:pt x="7414641" y="4057015"/>
                    <a:pt x="7041261" y="4057015"/>
                  </a:cubicBezTo>
                  <a:lnTo>
                    <a:pt x="676148" y="4057015"/>
                  </a:lnTo>
                  <a:cubicBezTo>
                    <a:pt x="302768" y="4057015"/>
                    <a:pt x="0" y="3754247"/>
                    <a:pt x="0" y="3380867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1045361" y="4006301"/>
            <a:ext cx="5088179" cy="2646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Analytical flow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Data understanding → distribution analysis → categorical analysis → outliers → bivariate relationships → correlation → multivariate analysis → business insights.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Quality &amp; Preparation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| DATA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18070" y="1704403"/>
            <a:ext cx="5101761" cy="2013252"/>
            <a:chOff x="0" y="0"/>
            <a:chExt cx="6802349" cy="26843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802374" cy="2684399"/>
            </a:xfrm>
            <a:custGeom>
              <a:avLst/>
              <a:gdLst/>
              <a:ahLst/>
              <a:cxnLst/>
              <a:rect r="r" b="b" t="t" l="l"/>
              <a:pathLst>
                <a:path h="2684399" w="6802374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6354953" y="0"/>
                  </a:lnTo>
                  <a:cubicBezTo>
                    <a:pt x="6602095" y="0"/>
                    <a:pt x="6802374" y="200279"/>
                    <a:pt x="6802374" y="447421"/>
                  </a:cubicBezTo>
                  <a:lnTo>
                    <a:pt x="6802374" y="2236978"/>
                  </a:lnTo>
                  <a:cubicBezTo>
                    <a:pt x="6802374" y="2484120"/>
                    <a:pt x="6602095" y="2684399"/>
                    <a:pt x="6354953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68028" y="1878654"/>
            <a:ext cx="4401845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Missing values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The notebook explicitly checks missing values before analysis.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77384" y="1704403"/>
            <a:ext cx="5101761" cy="2013252"/>
            <a:chOff x="0" y="0"/>
            <a:chExt cx="6802349" cy="2684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02374" cy="2684399"/>
            </a:xfrm>
            <a:custGeom>
              <a:avLst/>
              <a:gdLst/>
              <a:ahLst/>
              <a:cxnLst/>
              <a:rect r="r" b="b" t="t" l="l"/>
              <a:pathLst>
                <a:path h="2684399" w="6802374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6354953" y="0"/>
                  </a:lnTo>
                  <a:cubicBezTo>
                    <a:pt x="6602095" y="0"/>
                    <a:pt x="6802374" y="200279"/>
                    <a:pt x="6802374" y="447421"/>
                  </a:cubicBezTo>
                  <a:lnTo>
                    <a:pt x="6802374" y="2236978"/>
                  </a:lnTo>
                  <a:cubicBezTo>
                    <a:pt x="6802374" y="2484120"/>
                    <a:pt x="6602095" y="2684399"/>
                    <a:pt x="6354953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6927352" y="1878654"/>
            <a:ext cx="4401845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Identifiers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Each transaction uses an order ID and a customer ID; the notebook checks their uniqueness.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136707" y="1704403"/>
            <a:ext cx="5101761" cy="2013252"/>
            <a:chOff x="0" y="0"/>
            <a:chExt cx="6802349" cy="26843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02374" cy="2684399"/>
            </a:xfrm>
            <a:custGeom>
              <a:avLst/>
              <a:gdLst/>
              <a:ahLst/>
              <a:cxnLst/>
              <a:rect r="r" b="b" t="t" l="l"/>
              <a:pathLst>
                <a:path h="2684399" w="6802374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6354953" y="0"/>
                  </a:lnTo>
                  <a:cubicBezTo>
                    <a:pt x="6602095" y="0"/>
                    <a:pt x="6802374" y="200279"/>
                    <a:pt x="6802374" y="447421"/>
                  </a:cubicBezTo>
                  <a:lnTo>
                    <a:pt x="6802374" y="2236978"/>
                  </a:lnTo>
                  <a:cubicBezTo>
                    <a:pt x="6802374" y="2484120"/>
                    <a:pt x="6602095" y="2684399"/>
                    <a:pt x="6354953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486675" y="1878654"/>
            <a:ext cx="4401845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types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Discount percentage is converted to numeric before creating discount bands.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6842" y="4459281"/>
            <a:ext cx="15328316" cy="3662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Descriptive statistics were used to establish ranges, means, medians and variability.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Discount percentage was grouped into six bands: 0–5%, 6–10%, 11–15%, 16–20%, 21–25% and 26–30%.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Outlier checks used both IQR and Z-score methods.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Potential outliers were retained because unusual values may represent genuine high-value retail purchases.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 Age Distribution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| UNIVARIATE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4338" y="1528885"/>
            <a:ext cx="10699828" cy="7214390"/>
            <a:chOff x="0" y="0"/>
            <a:chExt cx="14250893" cy="960870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4250918" cy="9608693"/>
            </a:xfrm>
            <a:custGeom>
              <a:avLst/>
              <a:gdLst/>
              <a:ahLst/>
              <a:cxnLst/>
              <a:rect r="r" b="b" t="t" l="l"/>
              <a:pathLst>
                <a:path h="9608693" w="14250918">
                  <a:moveTo>
                    <a:pt x="0" y="0"/>
                  </a:moveTo>
                  <a:lnTo>
                    <a:pt x="14250918" y="0"/>
                  </a:lnTo>
                  <a:lnTo>
                    <a:pt x="14250918" y="9608693"/>
                  </a:lnTo>
                  <a:lnTo>
                    <a:pt x="0" y="9608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3" t="0" r="-71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038570" y="2116207"/>
            <a:ext cx="5856732" cy="2562320"/>
            <a:chOff x="0" y="0"/>
            <a:chExt cx="7808976" cy="34164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0897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08976">
                  <a:moveTo>
                    <a:pt x="0" y="569468"/>
                  </a:moveTo>
                  <a:cubicBezTo>
                    <a:pt x="0" y="254889"/>
                    <a:pt x="254889" y="0"/>
                    <a:pt x="569468" y="0"/>
                  </a:cubicBezTo>
                  <a:lnTo>
                    <a:pt x="7239508" y="0"/>
                  </a:lnTo>
                  <a:cubicBezTo>
                    <a:pt x="7553960" y="0"/>
                    <a:pt x="7808976" y="254889"/>
                    <a:pt x="7808976" y="569468"/>
                  </a:cubicBezTo>
                  <a:lnTo>
                    <a:pt x="7808976" y="2846959"/>
                  </a:lnTo>
                  <a:cubicBezTo>
                    <a:pt x="7808976" y="3161411"/>
                    <a:pt x="7554087" y="3416427"/>
                    <a:pt x="7239508" y="3416427"/>
                  </a:cubicBezTo>
                  <a:lnTo>
                    <a:pt x="569468" y="3416427"/>
                  </a:lnTo>
                  <a:cubicBezTo>
                    <a:pt x="254889" y="3416427"/>
                    <a:pt x="0" y="3161538"/>
                    <a:pt x="0" y="2846959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388538" y="2290458"/>
            <a:ext cx="5156816" cy="216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Customer ages range from 18 to 65, with an average of approximately 42 years. The distribution is approximately symmetric.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038570" y="5136080"/>
            <a:ext cx="5856732" cy="2562320"/>
            <a:chOff x="0" y="0"/>
            <a:chExt cx="7808976" cy="34164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08976" cy="3416427"/>
            </a:xfrm>
            <a:custGeom>
              <a:avLst/>
              <a:gdLst/>
              <a:ahLst/>
              <a:cxnLst/>
              <a:rect r="r" b="b" t="t" l="l"/>
              <a:pathLst>
                <a:path h="3416427" w="7808976">
                  <a:moveTo>
                    <a:pt x="0" y="569468"/>
                  </a:moveTo>
                  <a:cubicBezTo>
                    <a:pt x="0" y="254889"/>
                    <a:pt x="254889" y="0"/>
                    <a:pt x="569468" y="0"/>
                  </a:cubicBezTo>
                  <a:lnTo>
                    <a:pt x="7239508" y="0"/>
                  </a:lnTo>
                  <a:cubicBezTo>
                    <a:pt x="7553960" y="0"/>
                    <a:pt x="7808976" y="254889"/>
                    <a:pt x="7808976" y="569468"/>
                  </a:cubicBezTo>
                  <a:lnTo>
                    <a:pt x="7808976" y="2846959"/>
                  </a:lnTo>
                  <a:cubicBezTo>
                    <a:pt x="7808976" y="3161411"/>
                    <a:pt x="7554087" y="3416427"/>
                    <a:pt x="7239508" y="3416427"/>
                  </a:cubicBezTo>
                  <a:lnTo>
                    <a:pt x="569468" y="3416427"/>
                  </a:lnTo>
                  <a:cubicBezTo>
                    <a:pt x="254889" y="3416427"/>
                    <a:pt x="0" y="3161538"/>
                    <a:pt x="0" y="2846959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388538" y="5310340"/>
            <a:ext cx="5156816" cy="216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it means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dataset represents a broad adult customer base; age alone should not be treated as a strong spending predictor.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Price, Quantity &amp; Discount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| UNIVARIATE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54971" y="1853108"/>
            <a:ext cx="5490686" cy="3363049"/>
            <a:chOff x="0" y="0"/>
            <a:chExt cx="7320915" cy="448406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320915" cy="4484116"/>
            </a:xfrm>
            <a:custGeom>
              <a:avLst/>
              <a:gdLst/>
              <a:ahLst/>
              <a:cxnLst/>
              <a:rect r="r" b="b" t="t" l="l"/>
              <a:pathLst>
                <a:path h="4484116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267" r="0" b="-426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82931" y="1853108"/>
            <a:ext cx="5078892" cy="3363049"/>
            <a:chOff x="0" y="0"/>
            <a:chExt cx="6771856" cy="4484065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6771894" cy="4484116"/>
            </a:xfrm>
            <a:custGeom>
              <a:avLst/>
              <a:gdLst/>
              <a:ahLst/>
              <a:cxnLst/>
              <a:rect r="r" b="b" t="t" l="l"/>
              <a:pathLst>
                <a:path h="4484116" w="6771894">
                  <a:moveTo>
                    <a:pt x="0" y="0"/>
                  </a:moveTo>
                  <a:lnTo>
                    <a:pt x="6771894" y="0"/>
                  </a:lnTo>
                  <a:lnTo>
                    <a:pt x="6771894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64" r="0" b="-556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99078" y="1853108"/>
            <a:ext cx="5627951" cy="3363049"/>
            <a:chOff x="0" y="0"/>
            <a:chExt cx="7503935" cy="4484065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503922" cy="4484116"/>
            </a:xfrm>
            <a:custGeom>
              <a:avLst/>
              <a:gdLst/>
              <a:ahLst/>
              <a:cxnLst/>
              <a:rect r="r" b="b" t="t" l="l"/>
              <a:pathLst>
                <a:path h="4484116" w="7503922">
                  <a:moveTo>
                    <a:pt x="0" y="0"/>
                  </a:moveTo>
                  <a:lnTo>
                    <a:pt x="7503922" y="0"/>
                  </a:lnTo>
                  <a:lnTo>
                    <a:pt x="7503922" y="4484116"/>
                  </a:lnTo>
                  <a:lnTo>
                    <a:pt x="0" y="44841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623" r="0" b="-562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5523" y="5963974"/>
            <a:ext cx="3445983" cy="1386973"/>
            <a:chOff x="0" y="0"/>
            <a:chExt cx="4594644" cy="18492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94606" cy="1849247"/>
            </a:xfrm>
            <a:custGeom>
              <a:avLst/>
              <a:gdLst/>
              <a:ahLst/>
              <a:cxnLst/>
              <a:rect r="r" b="b" t="t" l="l"/>
              <a:pathLst>
                <a:path h="1849247" w="4594606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628832" y="6077912"/>
            <a:ext cx="2919355" cy="111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₹30,165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product price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89444" y="5963974"/>
            <a:ext cx="3445983" cy="1386973"/>
            <a:chOff x="0" y="0"/>
            <a:chExt cx="4594644" cy="18492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94606" cy="1849247"/>
            </a:xfrm>
            <a:custGeom>
              <a:avLst/>
              <a:gdLst/>
              <a:ahLst/>
              <a:cxnLst/>
              <a:rect r="r" b="b" t="t" l="l"/>
              <a:pathLst>
                <a:path h="1849247" w="4594606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952754" y="6077912"/>
            <a:ext cx="2919355" cy="111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23827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2.5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quantity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013356" y="5963974"/>
            <a:ext cx="3445983" cy="1386973"/>
            <a:chOff x="0" y="0"/>
            <a:chExt cx="4594644" cy="184929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94606" cy="1849247"/>
            </a:xfrm>
            <a:custGeom>
              <a:avLst/>
              <a:gdLst/>
              <a:ahLst/>
              <a:cxnLst/>
              <a:rect r="r" b="b" t="t" l="l"/>
              <a:pathLst>
                <a:path h="1849247" w="4594606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4F6F8"/>
            </a:solidFill>
            <a:ln w="14299" cap="sq">
              <a:solidFill>
                <a:srgbClr val="DCE0E5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0276665" y="6077912"/>
            <a:ext cx="2919355" cy="1110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</a:pPr>
            <a:r>
              <a:rPr lang="en-US" sz="3452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15%</a:t>
            </a:r>
          </a:p>
          <a:p>
            <a:pPr algn="ctr">
              <a:lnSpc>
                <a:spcPts val="1621"/>
              </a:lnSpc>
            </a:pPr>
            <a:r>
              <a:rPr lang="en-US" sz="1351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average discount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715286" y="5822423"/>
            <a:ext cx="3591830" cy="1807350"/>
            <a:chOff x="0" y="0"/>
            <a:chExt cx="4789106" cy="2409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89170" cy="2409952"/>
            </a:xfrm>
            <a:custGeom>
              <a:avLst/>
              <a:gdLst/>
              <a:ahLst/>
              <a:cxnLst/>
              <a:rect r="r" b="b" t="t" l="l"/>
              <a:pathLst>
                <a:path h="2409952" w="4789170">
                  <a:moveTo>
                    <a:pt x="0" y="401701"/>
                  </a:moveTo>
                  <a:cubicBezTo>
                    <a:pt x="0" y="179832"/>
                    <a:pt x="179832" y="0"/>
                    <a:pt x="401701" y="0"/>
                  </a:cubicBezTo>
                  <a:lnTo>
                    <a:pt x="4387469" y="0"/>
                  </a:lnTo>
                  <a:cubicBezTo>
                    <a:pt x="4609338" y="0"/>
                    <a:pt x="4789170" y="179832"/>
                    <a:pt x="4789170" y="401701"/>
                  </a:cubicBezTo>
                  <a:lnTo>
                    <a:pt x="4789170" y="2008251"/>
                  </a:lnTo>
                  <a:cubicBezTo>
                    <a:pt x="4789170" y="2230120"/>
                    <a:pt x="4609338" y="2409952"/>
                    <a:pt x="4387469" y="2409952"/>
                  </a:cubicBezTo>
                  <a:lnTo>
                    <a:pt x="401701" y="2409952"/>
                  </a:lnTo>
                  <a:cubicBezTo>
                    <a:pt x="179832" y="2409825"/>
                    <a:pt x="0" y="2229993"/>
                    <a:pt x="0" y="2008124"/>
                  </a:cubicBezTo>
                  <a:close/>
                </a:path>
              </a:pathLst>
            </a:custGeom>
            <a:solidFill>
              <a:srgbClr val="F4F6F8"/>
            </a:solidFill>
            <a:ln w="22878" cap="sq">
              <a:solidFill>
                <a:srgbClr val="5F697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4065244" y="5996673"/>
            <a:ext cx="2891904" cy="141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Prices are broadly balanced around their center; transactions contain 1–4 items; discounts span 0–30%.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Transaction Value &amp; Delivery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| UNIVARIATE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14351" y="1591943"/>
            <a:ext cx="8946013" cy="5586173"/>
            <a:chOff x="0" y="0"/>
            <a:chExt cx="14068953" cy="878509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4069003" cy="8785098"/>
            </a:xfrm>
            <a:custGeom>
              <a:avLst/>
              <a:gdLst/>
              <a:ahLst/>
              <a:cxnLst/>
              <a:rect r="r" b="b" t="t" l="l"/>
              <a:pathLst>
                <a:path h="8785098" w="14069003">
                  <a:moveTo>
                    <a:pt x="0" y="0"/>
                  </a:moveTo>
                  <a:lnTo>
                    <a:pt x="14069003" y="0"/>
                  </a:lnTo>
                  <a:lnTo>
                    <a:pt x="14069003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617" r="0" b="-161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65577" y="1776864"/>
            <a:ext cx="8046041" cy="5216330"/>
            <a:chOff x="0" y="0"/>
            <a:chExt cx="13550763" cy="878509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550776" cy="8785098"/>
            </a:xfrm>
            <a:custGeom>
              <a:avLst/>
              <a:gdLst/>
              <a:ahLst/>
              <a:cxnLst/>
              <a:rect r="r" b="b" t="t" l="l"/>
              <a:pathLst>
                <a:path h="8785098" w="13550776">
                  <a:moveTo>
                    <a:pt x="0" y="0"/>
                  </a:moveTo>
                  <a:lnTo>
                    <a:pt x="13550776" y="0"/>
                  </a:lnTo>
                  <a:lnTo>
                    <a:pt x="13550776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2" r="0" b="-62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3962" y="8430492"/>
            <a:ext cx="8533448" cy="983752"/>
            <a:chOff x="0" y="0"/>
            <a:chExt cx="11377930" cy="13116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77930" cy="1311656"/>
            </a:xfrm>
            <a:custGeom>
              <a:avLst/>
              <a:gdLst/>
              <a:ahLst/>
              <a:cxnLst/>
              <a:rect r="r" b="b" t="t" l="l"/>
              <a:pathLst>
                <a:path h="1311656" w="11377930">
                  <a:moveTo>
                    <a:pt x="0" y="218567"/>
                  </a:moveTo>
                  <a:cubicBezTo>
                    <a:pt x="0" y="97917"/>
                    <a:pt x="97917" y="0"/>
                    <a:pt x="218567" y="0"/>
                  </a:cubicBezTo>
                  <a:lnTo>
                    <a:pt x="11159363" y="0"/>
                  </a:lnTo>
                  <a:cubicBezTo>
                    <a:pt x="11280140" y="0"/>
                    <a:pt x="11377930" y="97917"/>
                    <a:pt x="11377930" y="218567"/>
                  </a:cubicBezTo>
                  <a:lnTo>
                    <a:pt x="11377930" y="1093089"/>
                  </a:lnTo>
                  <a:cubicBezTo>
                    <a:pt x="11377930" y="1213866"/>
                    <a:pt x="11280013" y="1311656"/>
                    <a:pt x="11159363" y="1311656"/>
                  </a:cubicBezTo>
                  <a:lnTo>
                    <a:pt x="218567" y="1311656"/>
                  </a:lnTo>
                  <a:cubicBezTo>
                    <a:pt x="97917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11041" y="8450885"/>
            <a:ext cx="843717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price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Mean ≈ ₹64,166 vs median ≈ ₹49,752. The higher mean indicates a right-skewed distribution with relatively high-value transactions.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832678" y="8430492"/>
            <a:ext cx="6062634" cy="983752"/>
            <a:chOff x="0" y="0"/>
            <a:chExt cx="8083512" cy="13116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83424" cy="1311656"/>
            </a:xfrm>
            <a:custGeom>
              <a:avLst/>
              <a:gdLst/>
              <a:ahLst/>
              <a:cxnLst/>
              <a:rect r="r" b="b" t="t" l="l"/>
              <a:pathLst>
                <a:path h="1311656" w="8083424">
                  <a:moveTo>
                    <a:pt x="0" y="218567"/>
                  </a:moveTo>
                  <a:cubicBezTo>
                    <a:pt x="0" y="97917"/>
                    <a:pt x="97917" y="0"/>
                    <a:pt x="218567" y="0"/>
                  </a:cubicBezTo>
                  <a:lnTo>
                    <a:pt x="7864856" y="0"/>
                  </a:lnTo>
                  <a:cubicBezTo>
                    <a:pt x="7985633" y="0"/>
                    <a:pt x="8083424" y="97917"/>
                    <a:pt x="8083424" y="218567"/>
                  </a:cubicBezTo>
                  <a:lnTo>
                    <a:pt x="8083424" y="1093089"/>
                  </a:lnTo>
                  <a:cubicBezTo>
                    <a:pt x="8083424" y="1213866"/>
                    <a:pt x="7985506" y="1311656"/>
                    <a:pt x="7864856" y="1311656"/>
                  </a:cubicBezTo>
                  <a:lnTo>
                    <a:pt x="218567" y="1311656"/>
                  </a:lnTo>
                  <a:cubicBezTo>
                    <a:pt x="97917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075031" y="8450885"/>
            <a:ext cx="548847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Delivery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Delivery ranges from 1–10 days, averaging approximately 5.5 days.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 Segment &amp; Product Category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| CATEGORICAL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94758" y="1554718"/>
            <a:ext cx="7369049" cy="5559104"/>
            <a:chOff x="0" y="0"/>
            <a:chExt cx="10432313" cy="7869987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432288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432288">
                  <a:moveTo>
                    <a:pt x="0" y="0"/>
                  </a:moveTo>
                  <a:lnTo>
                    <a:pt x="10432288" y="0"/>
                  </a:lnTo>
                  <a:lnTo>
                    <a:pt x="10432288" y="7869936"/>
                  </a:lnTo>
                  <a:lnTo>
                    <a:pt x="0" y="786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785103" y="1554718"/>
            <a:ext cx="8894921" cy="5902490"/>
            <a:chOff x="0" y="0"/>
            <a:chExt cx="11859895" cy="786998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1859840" cy="7869936"/>
            </a:xfrm>
            <a:custGeom>
              <a:avLst/>
              <a:gdLst/>
              <a:ahLst/>
              <a:cxnLst/>
              <a:rect r="r" b="b" t="t" l="l"/>
              <a:pathLst>
                <a:path h="7869936" w="11859840">
                  <a:moveTo>
                    <a:pt x="0" y="0"/>
                  </a:moveTo>
                  <a:lnTo>
                    <a:pt x="11859840" y="0"/>
                  </a:lnTo>
                  <a:lnTo>
                    <a:pt x="11859840" y="7869936"/>
                  </a:lnTo>
                  <a:lnTo>
                    <a:pt x="0" y="786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6" t="0" r="-27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5335" y="8018697"/>
            <a:ext cx="7572575" cy="1189653"/>
            <a:chOff x="0" y="0"/>
            <a:chExt cx="10096767" cy="15862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96754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096754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9832340" y="0"/>
                  </a:lnTo>
                  <a:cubicBezTo>
                    <a:pt x="9978390" y="0"/>
                    <a:pt x="10096754" y="118364"/>
                    <a:pt x="10096754" y="264414"/>
                  </a:cubicBezTo>
                  <a:lnTo>
                    <a:pt x="10096754" y="1321816"/>
                  </a:lnTo>
                  <a:cubicBezTo>
                    <a:pt x="10096754" y="1467866"/>
                    <a:pt x="9978390" y="1586230"/>
                    <a:pt x="9832340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05293" y="8192948"/>
            <a:ext cx="6872659" cy="79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Segment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New, Regular and Premium transactions are relatively balanced in volume.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2737" y="8018697"/>
            <a:ext cx="7572575" cy="1189653"/>
            <a:chOff x="0" y="0"/>
            <a:chExt cx="10096767" cy="15862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96754" cy="1586230"/>
            </a:xfrm>
            <a:custGeom>
              <a:avLst/>
              <a:gdLst/>
              <a:ahLst/>
              <a:cxnLst/>
              <a:rect r="r" b="b" t="t" l="l"/>
              <a:pathLst>
                <a:path h="1586230" w="10096754">
                  <a:moveTo>
                    <a:pt x="0" y="264414"/>
                  </a:moveTo>
                  <a:cubicBezTo>
                    <a:pt x="0" y="118364"/>
                    <a:pt x="118364" y="0"/>
                    <a:pt x="264414" y="0"/>
                  </a:cubicBezTo>
                  <a:lnTo>
                    <a:pt x="9832340" y="0"/>
                  </a:lnTo>
                  <a:cubicBezTo>
                    <a:pt x="9978390" y="0"/>
                    <a:pt x="10096754" y="118364"/>
                    <a:pt x="10096754" y="264414"/>
                  </a:cubicBezTo>
                  <a:lnTo>
                    <a:pt x="10096754" y="1321816"/>
                  </a:lnTo>
                  <a:cubicBezTo>
                    <a:pt x="10096754" y="1467866"/>
                    <a:pt x="9978390" y="1586230"/>
                    <a:pt x="9832340" y="1586230"/>
                  </a:cubicBezTo>
                  <a:lnTo>
                    <a:pt x="264414" y="1586230"/>
                  </a:lnTo>
                  <a:cubicBezTo>
                    <a:pt x="118364" y="1586230"/>
                    <a:pt x="0" y="1467866"/>
                    <a:pt x="0" y="1321816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72695" y="8192948"/>
            <a:ext cx="6872659" cy="79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Category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Health has the highest transaction count (16,858); Beauty is lowest (16,513). The gap is small, so category volumes are broadly balanced.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Outlier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| DATA QUALITY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9500" y="1853108"/>
            <a:ext cx="7961500" cy="3843480"/>
            <a:chOff x="0" y="0"/>
            <a:chExt cx="10615333" cy="512464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15295" cy="5124704"/>
            </a:xfrm>
            <a:custGeom>
              <a:avLst/>
              <a:gdLst/>
              <a:ahLst/>
              <a:cxnLst/>
              <a:rect r="r" b="b" t="t" l="l"/>
              <a:pathLst>
                <a:path h="5124704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5124704"/>
                  </a:lnTo>
                  <a:lnTo>
                    <a:pt x="0" y="5124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882" r="0" b="-1288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60001" y="1841668"/>
            <a:ext cx="7160771" cy="3248654"/>
            <a:chOff x="0" y="0"/>
            <a:chExt cx="9547695" cy="43315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47860" cy="4331589"/>
            </a:xfrm>
            <a:custGeom>
              <a:avLst/>
              <a:gdLst/>
              <a:ahLst/>
              <a:cxnLst/>
              <a:rect r="r" b="b" t="t" l="l"/>
              <a:pathLst>
                <a:path h="4331589" w="9547860">
                  <a:moveTo>
                    <a:pt x="0" y="721995"/>
                  </a:moveTo>
                  <a:cubicBezTo>
                    <a:pt x="0" y="323215"/>
                    <a:pt x="323215" y="0"/>
                    <a:pt x="721995" y="0"/>
                  </a:cubicBezTo>
                  <a:lnTo>
                    <a:pt x="8825864" y="0"/>
                  </a:lnTo>
                  <a:cubicBezTo>
                    <a:pt x="9224518" y="0"/>
                    <a:pt x="9547860" y="323215"/>
                    <a:pt x="9547860" y="721995"/>
                  </a:cubicBezTo>
                  <a:lnTo>
                    <a:pt x="9547860" y="3609594"/>
                  </a:lnTo>
                  <a:cubicBezTo>
                    <a:pt x="9547860" y="4008247"/>
                    <a:pt x="9224645" y="4331589"/>
                    <a:pt x="8825864" y="4331589"/>
                  </a:cubicBezTo>
                  <a:lnTo>
                    <a:pt x="721995" y="4331589"/>
                  </a:lnTo>
                  <a:cubicBezTo>
                    <a:pt x="323215" y="4331589"/>
                    <a:pt x="0" y="4008374"/>
                    <a:pt x="0" y="3609594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809959" y="2015928"/>
            <a:ext cx="6460855" cy="285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IQR method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Q1 = ₹24,705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Q3 = ₹94,046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Upper bound = ₹198,058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outliers = 1,335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23962" y="6096953"/>
            <a:ext cx="7435310" cy="2287791"/>
            <a:chOff x="0" y="0"/>
            <a:chExt cx="9913747" cy="30503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3748" cy="3050413"/>
            </a:xfrm>
            <a:custGeom>
              <a:avLst/>
              <a:gdLst/>
              <a:ahLst/>
              <a:cxnLst/>
              <a:rect r="r" b="b" t="t" l="l"/>
              <a:pathLst>
                <a:path h="3050413" w="9913748">
                  <a:moveTo>
                    <a:pt x="0" y="508381"/>
                  </a:moveTo>
                  <a:cubicBezTo>
                    <a:pt x="0" y="227584"/>
                    <a:pt x="227584" y="0"/>
                    <a:pt x="508381" y="0"/>
                  </a:cubicBezTo>
                  <a:lnTo>
                    <a:pt x="9405366" y="0"/>
                  </a:lnTo>
                  <a:cubicBezTo>
                    <a:pt x="9686163" y="0"/>
                    <a:pt x="9913748" y="227584"/>
                    <a:pt x="9913748" y="508381"/>
                  </a:cubicBezTo>
                  <a:lnTo>
                    <a:pt x="9913748" y="2542032"/>
                  </a:lnTo>
                  <a:cubicBezTo>
                    <a:pt x="9913748" y="2822829"/>
                    <a:pt x="9686163" y="3050413"/>
                    <a:pt x="9405366" y="3050413"/>
                  </a:cubicBezTo>
                  <a:lnTo>
                    <a:pt x="508381" y="3050413"/>
                  </a:lnTo>
                  <a:cubicBezTo>
                    <a:pt x="227584" y="3050413"/>
                    <a:pt x="0" y="2822702"/>
                    <a:pt x="0" y="2542032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573930" y="6271212"/>
            <a:ext cx="6735385" cy="189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Z-score method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Transactions with |Z| &gt; 3: 503.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The notebook retains these observations because they may be legitimate high-value purchases.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60001" y="6096953"/>
            <a:ext cx="7160771" cy="2287791"/>
            <a:chOff x="0" y="0"/>
            <a:chExt cx="9547695" cy="3050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47733" cy="3050413"/>
            </a:xfrm>
            <a:custGeom>
              <a:avLst/>
              <a:gdLst/>
              <a:ahLst/>
              <a:cxnLst/>
              <a:rect r="r" b="b" t="t" l="l"/>
              <a:pathLst>
                <a:path h="3050413" w="9547733">
                  <a:moveTo>
                    <a:pt x="0" y="508381"/>
                  </a:moveTo>
                  <a:cubicBezTo>
                    <a:pt x="0" y="227584"/>
                    <a:pt x="227584" y="0"/>
                    <a:pt x="508381" y="0"/>
                  </a:cubicBezTo>
                  <a:lnTo>
                    <a:pt x="9039352" y="0"/>
                  </a:lnTo>
                  <a:cubicBezTo>
                    <a:pt x="9320149" y="0"/>
                    <a:pt x="9547733" y="227584"/>
                    <a:pt x="9547733" y="508381"/>
                  </a:cubicBezTo>
                  <a:lnTo>
                    <a:pt x="9547733" y="2542032"/>
                  </a:lnTo>
                  <a:cubicBezTo>
                    <a:pt x="9547733" y="2822829"/>
                    <a:pt x="9320149" y="3050413"/>
                    <a:pt x="9039352" y="3050413"/>
                  </a:cubicBezTo>
                  <a:lnTo>
                    <a:pt x="508381" y="3050413"/>
                  </a:lnTo>
                  <a:cubicBezTo>
                    <a:pt x="227584" y="3050413"/>
                    <a:pt x="0" y="2822702"/>
                    <a:pt x="0" y="2542032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809959" y="6271212"/>
            <a:ext cx="6460855" cy="189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Business implication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Do not automatically remove high-value transactions. Validate them before treating them as errors.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Drives Transaction Value?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| BIVARIATE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60872" y="1647206"/>
            <a:ext cx="10020510" cy="6794725"/>
            <a:chOff x="0" y="0"/>
            <a:chExt cx="13360679" cy="9059634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3360654" cy="9059672"/>
            </a:xfrm>
            <a:custGeom>
              <a:avLst/>
              <a:gdLst/>
              <a:ahLst/>
              <a:cxnLst/>
              <a:rect r="r" b="b" t="t" l="l"/>
              <a:pathLst>
                <a:path h="9059672" w="13360654">
                  <a:moveTo>
                    <a:pt x="0" y="0"/>
                  </a:moveTo>
                  <a:lnTo>
                    <a:pt x="13360654" y="0"/>
                  </a:lnTo>
                  <a:lnTo>
                    <a:pt x="13360654" y="9059672"/>
                  </a:lnTo>
                  <a:lnTo>
                    <a:pt x="0" y="9059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05" t="0" r="-230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50374" y="2116207"/>
            <a:ext cx="5513565" cy="2356418"/>
            <a:chOff x="0" y="0"/>
            <a:chExt cx="7351420" cy="3141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51395" cy="3141853"/>
            </a:xfrm>
            <a:custGeom>
              <a:avLst/>
              <a:gdLst/>
              <a:ahLst/>
              <a:cxnLst/>
              <a:rect r="r" b="b" t="t" l="l"/>
              <a:pathLst>
                <a:path h="3141853" w="7351395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lnTo>
                    <a:pt x="6827774" y="0"/>
                  </a:lnTo>
                  <a:cubicBezTo>
                    <a:pt x="7116953" y="0"/>
                    <a:pt x="7351395" y="234442"/>
                    <a:pt x="7351395" y="523621"/>
                  </a:cubicBezTo>
                  <a:lnTo>
                    <a:pt x="7351395" y="2618232"/>
                  </a:lnTo>
                  <a:cubicBezTo>
                    <a:pt x="7351395" y="2907411"/>
                    <a:pt x="7116953" y="3141853"/>
                    <a:pt x="6827774" y="3141853"/>
                  </a:cubicBezTo>
                  <a:lnTo>
                    <a:pt x="523621" y="3141853"/>
                  </a:lnTo>
                  <a:cubicBezTo>
                    <a:pt x="234442" y="3141853"/>
                    <a:pt x="0" y="2907411"/>
                    <a:pt x="0" y="2618232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800332" y="2290458"/>
            <a:ext cx="4813649" cy="196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relationship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price and final transaction value have a strong positive relationship. Correlation ≈ 0.731.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50374" y="5067452"/>
            <a:ext cx="5513565" cy="2150516"/>
            <a:chOff x="0" y="0"/>
            <a:chExt cx="7351420" cy="28673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51395" cy="2867406"/>
            </a:xfrm>
            <a:custGeom>
              <a:avLst/>
              <a:gdLst/>
              <a:ahLst/>
              <a:cxnLst/>
              <a:rect r="r" b="b" t="t" l="l"/>
              <a:pathLst>
                <a:path h="2867406" w="7351395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6873494" y="0"/>
                  </a:lnTo>
                  <a:cubicBezTo>
                    <a:pt x="7137400" y="0"/>
                    <a:pt x="7351395" y="213995"/>
                    <a:pt x="7351395" y="477901"/>
                  </a:cubicBezTo>
                  <a:lnTo>
                    <a:pt x="7351395" y="2389505"/>
                  </a:lnTo>
                  <a:cubicBezTo>
                    <a:pt x="7351395" y="2653411"/>
                    <a:pt x="7137400" y="2867406"/>
                    <a:pt x="6873494" y="2867406"/>
                  </a:cubicBezTo>
                  <a:lnTo>
                    <a:pt x="477901" y="2867406"/>
                  </a:lnTo>
                  <a:cubicBezTo>
                    <a:pt x="213995" y="2867406"/>
                    <a:pt x="0" y="2653411"/>
                    <a:pt x="0" y="2389505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800332" y="5241703"/>
            <a:ext cx="4813649" cy="175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Interpretation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Higher-priced products generally generate higher final transaction values.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Quantity Matters More Than 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| BIVARIATE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2832" y="2106506"/>
            <a:ext cx="8352384" cy="5448348"/>
            <a:chOff x="0" y="0"/>
            <a:chExt cx="13467662" cy="878509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3467614" cy="8785098"/>
            </a:xfrm>
            <a:custGeom>
              <a:avLst/>
              <a:gdLst/>
              <a:ahLst/>
              <a:cxnLst/>
              <a:rect r="r" b="b" t="t" l="l"/>
              <a:pathLst>
                <a:path h="8785098" w="13467614">
                  <a:moveTo>
                    <a:pt x="0" y="0"/>
                  </a:moveTo>
                  <a:lnTo>
                    <a:pt x="13467614" y="0"/>
                  </a:lnTo>
                  <a:lnTo>
                    <a:pt x="13467614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17" t="0" r="-317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60001" y="2026788"/>
            <a:ext cx="8419535" cy="5499822"/>
            <a:chOff x="0" y="0"/>
            <a:chExt cx="13448878" cy="8785098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3448829" cy="8785098"/>
            </a:xfrm>
            <a:custGeom>
              <a:avLst/>
              <a:gdLst/>
              <a:ahLst/>
              <a:cxnLst/>
              <a:rect r="r" b="b" t="t" l="l"/>
              <a:pathLst>
                <a:path h="8785098" w="13448829">
                  <a:moveTo>
                    <a:pt x="0" y="0"/>
                  </a:moveTo>
                  <a:lnTo>
                    <a:pt x="13448829" y="0"/>
                  </a:lnTo>
                  <a:lnTo>
                    <a:pt x="13448829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7" t="0" r="-38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23962" y="8430492"/>
            <a:ext cx="7641212" cy="1052379"/>
            <a:chOff x="0" y="0"/>
            <a:chExt cx="10188283" cy="140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88194" cy="1403096"/>
            </a:xfrm>
            <a:custGeom>
              <a:avLst/>
              <a:gdLst/>
              <a:ahLst/>
              <a:cxnLst/>
              <a:rect r="r" b="b" t="t" l="l"/>
              <a:pathLst>
                <a:path h="1403096" w="10188194">
                  <a:moveTo>
                    <a:pt x="0" y="233807"/>
                  </a:moveTo>
                  <a:cubicBezTo>
                    <a:pt x="0" y="104648"/>
                    <a:pt x="104648" y="0"/>
                    <a:pt x="233807" y="0"/>
                  </a:cubicBezTo>
                  <a:lnTo>
                    <a:pt x="9954387" y="0"/>
                  </a:lnTo>
                  <a:cubicBezTo>
                    <a:pt x="10083547" y="0"/>
                    <a:pt x="10188194" y="104648"/>
                    <a:pt x="10188194" y="233807"/>
                  </a:cubicBezTo>
                  <a:lnTo>
                    <a:pt x="10188194" y="1169289"/>
                  </a:lnTo>
                  <a:cubicBezTo>
                    <a:pt x="10188194" y="1298448"/>
                    <a:pt x="10083547" y="1403096"/>
                    <a:pt x="9954387" y="1403096"/>
                  </a:cubicBezTo>
                  <a:lnTo>
                    <a:pt x="233807" y="1403096"/>
                  </a:lnTo>
                  <a:cubicBezTo>
                    <a:pt x="104648" y="1403223"/>
                    <a:pt x="0" y="1298448"/>
                    <a:pt x="0" y="1169289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73925" y="8485194"/>
            <a:ext cx="694128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Quantity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Final transaction value generally rises as quantity increases; correlation with final price ≈ 0.575.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60001" y="8430492"/>
            <a:ext cx="7641212" cy="1052379"/>
            <a:chOff x="0" y="0"/>
            <a:chExt cx="10188283" cy="14031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88194" cy="1403096"/>
            </a:xfrm>
            <a:custGeom>
              <a:avLst/>
              <a:gdLst/>
              <a:ahLst/>
              <a:cxnLst/>
              <a:rect r="r" b="b" t="t" l="l"/>
              <a:pathLst>
                <a:path h="1403096" w="10188194">
                  <a:moveTo>
                    <a:pt x="0" y="233807"/>
                  </a:moveTo>
                  <a:cubicBezTo>
                    <a:pt x="0" y="104648"/>
                    <a:pt x="104648" y="0"/>
                    <a:pt x="233807" y="0"/>
                  </a:cubicBezTo>
                  <a:lnTo>
                    <a:pt x="9954387" y="0"/>
                  </a:lnTo>
                  <a:cubicBezTo>
                    <a:pt x="10083547" y="0"/>
                    <a:pt x="10188194" y="104648"/>
                    <a:pt x="10188194" y="233807"/>
                  </a:cubicBezTo>
                  <a:lnTo>
                    <a:pt x="10188194" y="1169289"/>
                  </a:lnTo>
                  <a:cubicBezTo>
                    <a:pt x="10188194" y="1298448"/>
                    <a:pt x="10083547" y="1403096"/>
                    <a:pt x="9954387" y="1403096"/>
                  </a:cubicBezTo>
                  <a:lnTo>
                    <a:pt x="233807" y="1403096"/>
                  </a:lnTo>
                  <a:cubicBezTo>
                    <a:pt x="104648" y="1403223"/>
                    <a:pt x="0" y="1298448"/>
                    <a:pt x="0" y="1169289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09964" y="8498161"/>
            <a:ext cx="6941287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Age has almost no linear relationship with final transaction value; correlation ≈ -0.001.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Customer Value &amp; Return Behavior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| BIVARIATE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3675" y="1188671"/>
            <a:ext cx="7114344" cy="4664461"/>
            <a:chOff x="0" y="0"/>
            <a:chExt cx="13120088" cy="860207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3120041" cy="8602091"/>
            </a:xfrm>
            <a:custGeom>
              <a:avLst/>
              <a:gdLst/>
              <a:ahLst/>
              <a:cxnLst/>
              <a:rect r="r" b="b" t="t" l="l"/>
              <a:pathLst>
                <a:path h="8602091" w="13120041">
                  <a:moveTo>
                    <a:pt x="0" y="0"/>
                  </a:moveTo>
                  <a:lnTo>
                    <a:pt x="13120041" y="0"/>
                  </a:lnTo>
                  <a:lnTo>
                    <a:pt x="13120041" y="8602091"/>
                  </a:lnTo>
                  <a:lnTo>
                    <a:pt x="0" y="860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74" t="0" r="-574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1871" y="5853133"/>
            <a:ext cx="5977543" cy="4245196"/>
            <a:chOff x="0" y="0"/>
            <a:chExt cx="8158831" cy="5794327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158843" cy="5794377"/>
            </a:xfrm>
            <a:custGeom>
              <a:avLst/>
              <a:gdLst/>
              <a:ahLst/>
              <a:cxnLst/>
              <a:rect r="r" b="b" t="t" l="l"/>
              <a:pathLst>
                <a:path h="5794377" w="8158843">
                  <a:moveTo>
                    <a:pt x="0" y="0"/>
                  </a:moveTo>
                  <a:lnTo>
                    <a:pt x="8158843" y="0"/>
                  </a:lnTo>
                  <a:lnTo>
                    <a:pt x="8158843" y="5794377"/>
                  </a:lnTo>
                  <a:lnTo>
                    <a:pt x="0" y="5794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72" t="0" r="-19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22737" y="1978933"/>
            <a:ext cx="7298045" cy="2356418"/>
            <a:chOff x="0" y="0"/>
            <a:chExt cx="9730727" cy="31418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30739" cy="3141853"/>
            </a:xfrm>
            <a:custGeom>
              <a:avLst/>
              <a:gdLst/>
              <a:ahLst/>
              <a:cxnLst/>
              <a:rect r="r" b="b" t="t" l="l"/>
              <a:pathLst>
                <a:path h="3141853" w="9730739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lnTo>
                    <a:pt x="9207119" y="0"/>
                  </a:lnTo>
                  <a:cubicBezTo>
                    <a:pt x="9496298" y="0"/>
                    <a:pt x="9730739" y="234442"/>
                    <a:pt x="9730739" y="523621"/>
                  </a:cubicBezTo>
                  <a:lnTo>
                    <a:pt x="9730739" y="2618232"/>
                  </a:lnTo>
                  <a:cubicBezTo>
                    <a:pt x="9730739" y="2907411"/>
                    <a:pt x="9496298" y="3141853"/>
                    <a:pt x="9207119" y="3141853"/>
                  </a:cubicBezTo>
                  <a:lnTo>
                    <a:pt x="523621" y="3141853"/>
                  </a:lnTo>
                  <a:cubicBezTo>
                    <a:pt x="234442" y="3141853"/>
                    <a:pt x="0" y="2907411"/>
                    <a:pt x="0" y="2618232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72695" y="2153193"/>
            <a:ext cx="6598120" cy="196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Segment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Premium customers show the highest average transaction value, followed closely by Regular customers; New customers are slightly lower.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22737" y="4998815"/>
            <a:ext cx="7298045" cy="2356418"/>
            <a:chOff x="0" y="0"/>
            <a:chExt cx="9730727" cy="31418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30739" cy="3141853"/>
            </a:xfrm>
            <a:custGeom>
              <a:avLst/>
              <a:gdLst/>
              <a:ahLst/>
              <a:cxnLst/>
              <a:rect r="r" b="b" t="t" l="l"/>
              <a:pathLst>
                <a:path h="3141853" w="9730739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lnTo>
                    <a:pt x="9207119" y="0"/>
                  </a:lnTo>
                  <a:cubicBezTo>
                    <a:pt x="9496298" y="0"/>
                    <a:pt x="9730739" y="234442"/>
                    <a:pt x="9730739" y="523621"/>
                  </a:cubicBezTo>
                  <a:lnTo>
                    <a:pt x="9730739" y="2618232"/>
                  </a:lnTo>
                  <a:cubicBezTo>
                    <a:pt x="9730739" y="2907411"/>
                    <a:pt x="9496298" y="3141853"/>
                    <a:pt x="9207119" y="3141853"/>
                  </a:cubicBezTo>
                  <a:lnTo>
                    <a:pt x="523621" y="3141853"/>
                  </a:lnTo>
                  <a:cubicBezTo>
                    <a:pt x="234442" y="3141853"/>
                    <a:pt x="0" y="2907411"/>
                    <a:pt x="0" y="2618232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72695" y="5173066"/>
            <a:ext cx="6598120" cy="196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Return 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Fashion has the highest return rate at ≈15.05%; Electronics is lowest at ≈14.47%. Differences are relatively small.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Shipping Type, Delivery &amp; Returns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| BIVARIATE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98137" y="1715843"/>
            <a:ext cx="9608706" cy="6588824"/>
            <a:chOff x="0" y="0"/>
            <a:chExt cx="12811608" cy="8785098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2811633" cy="8785098"/>
            </a:xfrm>
            <a:custGeom>
              <a:avLst/>
              <a:gdLst/>
              <a:ahLst/>
              <a:cxnLst/>
              <a:rect r="r" b="b" t="t" l="l"/>
              <a:pathLst>
                <a:path h="8785098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8785098"/>
                  </a:lnTo>
                  <a:lnTo>
                    <a:pt x="0" y="8785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29" t="0" r="-32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244472" y="2116207"/>
            <a:ext cx="5513565" cy="2356418"/>
            <a:chOff x="0" y="0"/>
            <a:chExt cx="7351420" cy="31418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51395" cy="3141853"/>
            </a:xfrm>
            <a:custGeom>
              <a:avLst/>
              <a:gdLst/>
              <a:ahLst/>
              <a:cxnLst/>
              <a:rect r="r" b="b" t="t" l="l"/>
              <a:pathLst>
                <a:path h="3141853" w="7351395">
                  <a:moveTo>
                    <a:pt x="0" y="523621"/>
                  </a:moveTo>
                  <a:cubicBezTo>
                    <a:pt x="0" y="234442"/>
                    <a:pt x="234442" y="0"/>
                    <a:pt x="523621" y="0"/>
                  </a:cubicBezTo>
                  <a:lnTo>
                    <a:pt x="6827774" y="0"/>
                  </a:lnTo>
                  <a:cubicBezTo>
                    <a:pt x="7116953" y="0"/>
                    <a:pt x="7351395" y="234442"/>
                    <a:pt x="7351395" y="523621"/>
                  </a:cubicBezTo>
                  <a:lnTo>
                    <a:pt x="7351395" y="2618232"/>
                  </a:lnTo>
                  <a:cubicBezTo>
                    <a:pt x="7351395" y="2907411"/>
                    <a:pt x="7116953" y="3141853"/>
                    <a:pt x="6827774" y="3141853"/>
                  </a:cubicBezTo>
                  <a:lnTo>
                    <a:pt x="523621" y="3141853"/>
                  </a:lnTo>
                  <a:cubicBezTo>
                    <a:pt x="234442" y="3141853"/>
                    <a:pt x="0" y="2907411"/>
                    <a:pt x="0" y="2618232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594430" y="2290458"/>
            <a:ext cx="4813649" cy="196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Insight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Express shipping has slightly lower average delivery time than Standard shipping, but the difference is small.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244472" y="5136080"/>
            <a:ext cx="5513565" cy="2562320"/>
            <a:chOff x="0" y="0"/>
            <a:chExt cx="7351420" cy="34164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51523" cy="3416427"/>
            </a:xfrm>
            <a:custGeom>
              <a:avLst/>
              <a:gdLst/>
              <a:ahLst/>
              <a:cxnLst/>
              <a:rect r="r" b="b" t="t" l="l"/>
              <a:pathLst>
                <a:path h="3416427" w="7351523">
                  <a:moveTo>
                    <a:pt x="0" y="569468"/>
                  </a:moveTo>
                  <a:cubicBezTo>
                    <a:pt x="0" y="254889"/>
                    <a:pt x="254889" y="0"/>
                    <a:pt x="569468" y="0"/>
                  </a:cubicBezTo>
                  <a:lnTo>
                    <a:pt x="6782054" y="0"/>
                  </a:lnTo>
                  <a:cubicBezTo>
                    <a:pt x="7096506" y="0"/>
                    <a:pt x="7351523" y="254889"/>
                    <a:pt x="7351523" y="569468"/>
                  </a:cubicBezTo>
                  <a:lnTo>
                    <a:pt x="7351523" y="2846959"/>
                  </a:lnTo>
                  <a:cubicBezTo>
                    <a:pt x="7351523" y="3161411"/>
                    <a:pt x="7096633" y="3416427"/>
                    <a:pt x="6782054" y="3416427"/>
                  </a:cubicBezTo>
                  <a:lnTo>
                    <a:pt x="569468" y="3416427"/>
                  </a:lnTo>
                  <a:cubicBezTo>
                    <a:pt x="254889" y="3416427"/>
                    <a:pt x="0" y="3161538"/>
                    <a:pt x="0" y="2846959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594430" y="5310340"/>
            <a:ext cx="4813649" cy="216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Return connection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Delivery duration is broadly similar for returned and non-returned orders, suggesting delivery time alone has limited relationship with returns.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Correlation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07 | RELATIONSHIPS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2235" y="1441304"/>
            <a:ext cx="9883245" cy="7343794"/>
            <a:chOff x="0" y="0"/>
            <a:chExt cx="13177660" cy="9791725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3177647" cy="9791700"/>
            </a:xfrm>
            <a:custGeom>
              <a:avLst/>
              <a:gdLst/>
              <a:ahLst/>
              <a:cxnLst/>
              <a:rect r="r" b="b" t="t" l="l"/>
              <a:pathLst>
                <a:path h="9791700" w="13177647">
                  <a:moveTo>
                    <a:pt x="0" y="0"/>
                  </a:moveTo>
                  <a:lnTo>
                    <a:pt x="13177647" y="0"/>
                  </a:lnTo>
                  <a:lnTo>
                    <a:pt x="13177647" y="9791700"/>
                  </a:lnTo>
                  <a:lnTo>
                    <a:pt x="0" y="979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370" r="0" b="-537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13109" y="1704403"/>
            <a:ext cx="5513565" cy="2150516"/>
            <a:chOff x="0" y="0"/>
            <a:chExt cx="7351420" cy="28673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51395" cy="2867406"/>
            </a:xfrm>
            <a:custGeom>
              <a:avLst/>
              <a:gdLst/>
              <a:ahLst/>
              <a:cxnLst/>
              <a:rect r="r" b="b" t="t" l="l"/>
              <a:pathLst>
                <a:path h="2867406" w="7351395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6873494" y="0"/>
                  </a:lnTo>
                  <a:cubicBezTo>
                    <a:pt x="7137400" y="0"/>
                    <a:pt x="7351395" y="213995"/>
                    <a:pt x="7351395" y="477901"/>
                  </a:cubicBezTo>
                  <a:lnTo>
                    <a:pt x="7351395" y="2389505"/>
                  </a:lnTo>
                  <a:cubicBezTo>
                    <a:pt x="7351395" y="2653411"/>
                    <a:pt x="7137400" y="2867406"/>
                    <a:pt x="6873494" y="2867406"/>
                  </a:cubicBezTo>
                  <a:lnTo>
                    <a:pt x="477901" y="2867406"/>
                  </a:lnTo>
                  <a:cubicBezTo>
                    <a:pt x="213995" y="2867406"/>
                    <a:pt x="0" y="2653411"/>
                    <a:pt x="0" y="2389505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663067" y="1878654"/>
            <a:ext cx="4813649" cy="175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Strongest positive links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price → final price: 0.731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Quantity → final price: 0.575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13109" y="4312482"/>
            <a:ext cx="5513565" cy="2081889"/>
            <a:chOff x="0" y="0"/>
            <a:chExt cx="7351420" cy="27758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51395" cy="2775839"/>
            </a:xfrm>
            <a:custGeom>
              <a:avLst/>
              <a:gdLst/>
              <a:ahLst/>
              <a:cxnLst/>
              <a:rect r="r" b="b" t="t" l="l"/>
              <a:pathLst>
                <a:path h="2775839" w="7351395">
                  <a:moveTo>
                    <a:pt x="0" y="462661"/>
                  </a:moveTo>
                  <a:cubicBezTo>
                    <a:pt x="0" y="207137"/>
                    <a:pt x="207137" y="0"/>
                    <a:pt x="462661" y="0"/>
                  </a:cubicBezTo>
                  <a:lnTo>
                    <a:pt x="6888734" y="0"/>
                  </a:lnTo>
                  <a:cubicBezTo>
                    <a:pt x="7144258" y="0"/>
                    <a:pt x="7351395" y="207137"/>
                    <a:pt x="7351395" y="462661"/>
                  </a:cubicBezTo>
                  <a:lnTo>
                    <a:pt x="7351395" y="2313178"/>
                  </a:lnTo>
                  <a:cubicBezTo>
                    <a:pt x="7351395" y="2568702"/>
                    <a:pt x="7144258" y="2775839"/>
                    <a:pt x="6888734" y="2775839"/>
                  </a:cubicBezTo>
                  <a:lnTo>
                    <a:pt x="462661" y="2775839"/>
                  </a:lnTo>
                  <a:cubicBezTo>
                    <a:pt x="207137" y="2775839"/>
                    <a:pt x="0" y="2568702"/>
                    <a:pt x="0" y="2313178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663067" y="4486732"/>
            <a:ext cx="4813649" cy="1685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Negative link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Discount percentage → final price: -0.137. This is a weak negative linear relationship.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313109" y="6851923"/>
            <a:ext cx="5513565" cy="1670085"/>
            <a:chOff x="0" y="0"/>
            <a:chExt cx="7351420" cy="22267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51395" cy="2226691"/>
            </a:xfrm>
            <a:custGeom>
              <a:avLst/>
              <a:gdLst/>
              <a:ahLst/>
              <a:cxnLst/>
              <a:rect r="r" b="b" t="t" l="l"/>
              <a:pathLst>
                <a:path h="2226691" w="7351395">
                  <a:moveTo>
                    <a:pt x="0" y="371094"/>
                  </a:moveTo>
                  <a:cubicBezTo>
                    <a:pt x="0" y="166116"/>
                    <a:pt x="166116" y="0"/>
                    <a:pt x="371094" y="0"/>
                  </a:cubicBezTo>
                  <a:lnTo>
                    <a:pt x="6980301" y="0"/>
                  </a:lnTo>
                  <a:cubicBezTo>
                    <a:pt x="7185279" y="0"/>
                    <a:pt x="7351395" y="166116"/>
                    <a:pt x="7351395" y="371094"/>
                  </a:cubicBezTo>
                  <a:lnTo>
                    <a:pt x="7351395" y="1855597"/>
                  </a:lnTo>
                  <a:cubicBezTo>
                    <a:pt x="7351395" y="2060575"/>
                    <a:pt x="7185279" y="2226691"/>
                    <a:pt x="6980301" y="2226691"/>
                  </a:cubicBezTo>
                  <a:lnTo>
                    <a:pt x="371094" y="2226691"/>
                  </a:lnTo>
                  <a:cubicBezTo>
                    <a:pt x="166116" y="2226818"/>
                    <a:pt x="0" y="2060575"/>
                    <a:pt x="0" y="1855597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663067" y="7026173"/>
            <a:ext cx="4813649" cy="127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Minimal links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Age and delivery days show almost no linear relationship with final price.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Multivariate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08 | DEEPER INSIGHTS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54971" y="1509941"/>
            <a:ext cx="5490686" cy="3706216"/>
            <a:chOff x="0" y="0"/>
            <a:chExt cx="7320915" cy="494162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320915" cy="4941570"/>
            </a:xfrm>
            <a:custGeom>
              <a:avLst/>
              <a:gdLst/>
              <a:ahLst/>
              <a:cxnLst/>
              <a:rect r="r" b="b" t="t" l="l"/>
              <a:pathLst>
                <a:path h="494157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941570"/>
                  </a:lnTo>
                  <a:lnTo>
                    <a:pt x="0" y="494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09" t="0" r="-4309" b="-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382931" y="1509941"/>
            <a:ext cx="5490686" cy="3706216"/>
            <a:chOff x="0" y="0"/>
            <a:chExt cx="7320915" cy="4941621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320915" cy="4941570"/>
            </a:xfrm>
            <a:custGeom>
              <a:avLst/>
              <a:gdLst/>
              <a:ahLst/>
              <a:cxnLst/>
              <a:rect r="r" b="b" t="t" l="l"/>
              <a:pathLst>
                <a:path h="494157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941570"/>
                  </a:lnTo>
                  <a:lnTo>
                    <a:pt x="0" y="494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09" t="0" r="-4309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10882" y="1509941"/>
            <a:ext cx="5490686" cy="3706216"/>
            <a:chOff x="0" y="0"/>
            <a:chExt cx="7320915" cy="4941621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320915" cy="4941570"/>
            </a:xfrm>
            <a:custGeom>
              <a:avLst/>
              <a:gdLst/>
              <a:ahLst/>
              <a:cxnLst/>
              <a:rect r="r" b="b" t="t" l="l"/>
              <a:pathLst>
                <a:path h="4941570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4941570"/>
                  </a:lnTo>
                  <a:lnTo>
                    <a:pt x="0" y="494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42" t="0" r="-2142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18070" y="5822423"/>
            <a:ext cx="5239036" cy="2013252"/>
            <a:chOff x="0" y="0"/>
            <a:chExt cx="6985381" cy="26843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5381" cy="2684399"/>
            </a:xfrm>
            <a:custGeom>
              <a:avLst/>
              <a:gdLst/>
              <a:ahLst/>
              <a:cxnLst/>
              <a:rect r="r" b="b" t="t" l="l"/>
              <a:pathLst>
                <a:path h="2684399" w="6985381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6537960" y="0"/>
                  </a:lnTo>
                  <a:cubicBezTo>
                    <a:pt x="6785102" y="0"/>
                    <a:pt x="6985381" y="200279"/>
                    <a:pt x="6985381" y="447421"/>
                  </a:cubicBezTo>
                  <a:lnTo>
                    <a:pt x="6985381" y="2236978"/>
                  </a:lnTo>
                  <a:cubicBezTo>
                    <a:pt x="6985381" y="2484120"/>
                    <a:pt x="6785102" y="2684399"/>
                    <a:pt x="6537960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68028" y="5996673"/>
            <a:ext cx="4539110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Discount × value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Higher discount percentages are associated with lower final transaction values.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08756" y="5822423"/>
            <a:ext cx="5239036" cy="2013252"/>
            <a:chOff x="0" y="0"/>
            <a:chExt cx="6985381" cy="2684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5381" cy="2684399"/>
            </a:xfrm>
            <a:custGeom>
              <a:avLst/>
              <a:gdLst/>
              <a:ahLst/>
              <a:cxnLst/>
              <a:rect r="r" b="b" t="t" l="l"/>
              <a:pathLst>
                <a:path h="2684399" w="6985381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6537960" y="0"/>
                  </a:lnTo>
                  <a:cubicBezTo>
                    <a:pt x="6785102" y="0"/>
                    <a:pt x="6985381" y="200279"/>
                    <a:pt x="6985381" y="447421"/>
                  </a:cubicBezTo>
                  <a:lnTo>
                    <a:pt x="6985381" y="2236978"/>
                  </a:lnTo>
                  <a:cubicBezTo>
                    <a:pt x="6985381" y="2484120"/>
                    <a:pt x="6785102" y="2684399"/>
                    <a:pt x="6537960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858714" y="5996673"/>
            <a:ext cx="4539110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 × segment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Premium customers in the 30–45 age group show the highest average transaction value among analyzed age-segment groups.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36707" y="5822423"/>
            <a:ext cx="5239036" cy="2013252"/>
            <a:chOff x="0" y="0"/>
            <a:chExt cx="6985381" cy="2684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85381" cy="2684399"/>
            </a:xfrm>
            <a:custGeom>
              <a:avLst/>
              <a:gdLst/>
              <a:ahLst/>
              <a:cxnLst/>
              <a:rect r="r" b="b" t="t" l="l"/>
              <a:pathLst>
                <a:path h="2684399" w="6985381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6537960" y="0"/>
                  </a:lnTo>
                  <a:cubicBezTo>
                    <a:pt x="6785102" y="0"/>
                    <a:pt x="6985381" y="200279"/>
                    <a:pt x="6985381" y="447421"/>
                  </a:cubicBezTo>
                  <a:lnTo>
                    <a:pt x="6985381" y="2236978"/>
                  </a:lnTo>
                  <a:cubicBezTo>
                    <a:pt x="6985381" y="2484120"/>
                    <a:pt x="6785102" y="2684399"/>
                    <a:pt x="6537960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486675" y="5996673"/>
            <a:ext cx="4539110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Shipping × returns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Delivery duration is broadly similar across shipping and return groups.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Discount Analysis: A Clear Commercial Pattern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09 | PRICING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9500" y="1578569"/>
            <a:ext cx="9608706" cy="6245657"/>
            <a:chOff x="0" y="0"/>
            <a:chExt cx="12811608" cy="8327542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2811633" cy="8327517"/>
            </a:xfrm>
            <a:custGeom>
              <a:avLst/>
              <a:gdLst/>
              <a:ahLst/>
              <a:cxnLst/>
              <a:rect r="r" b="b" t="t" l="l"/>
              <a:pathLst>
                <a:path h="8327517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8327517"/>
                  </a:lnTo>
                  <a:lnTo>
                    <a:pt x="0" y="8327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930" t="0" r="-493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75844" y="1704403"/>
            <a:ext cx="5719467" cy="4209526"/>
            <a:chOff x="0" y="0"/>
            <a:chExt cx="7625956" cy="56127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5969" cy="5612765"/>
            </a:xfrm>
            <a:custGeom>
              <a:avLst/>
              <a:gdLst/>
              <a:ahLst/>
              <a:cxnLst/>
              <a:rect r="r" b="b" t="t" l="l"/>
              <a:pathLst>
                <a:path h="5612765" w="7625969">
                  <a:moveTo>
                    <a:pt x="0" y="935482"/>
                  </a:moveTo>
                  <a:cubicBezTo>
                    <a:pt x="0" y="418846"/>
                    <a:pt x="418846" y="0"/>
                    <a:pt x="935482" y="0"/>
                  </a:cubicBezTo>
                  <a:lnTo>
                    <a:pt x="6690487" y="0"/>
                  </a:lnTo>
                  <a:cubicBezTo>
                    <a:pt x="7207123" y="0"/>
                    <a:pt x="7625969" y="418846"/>
                    <a:pt x="7625969" y="935482"/>
                  </a:cubicBezTo>
                  <a:lnTo>
                    <a:pt x="7625969" y="4677283"/>
                  </a:lnTo>
                  <a:cubicBezTo>
                    <a:pt x="7625969" y="5193919"/>
                    <a:pt x="7207123" y="5612765"/>
                    <a:pt x="6690487" y="5612765"/>
                  </a:cubicBezTo>
                  <a:lnTo>
                    <a:pt x="935482" y="5612765"/>
                  </a:lnTo>
                  <a:cubicBezTo>
                    <a:pt x="418846" y="5612765"/>
                    <a:pt x="0" y="5193919"/>
                    <a:pt x="0" y="4677283"/>
                  </a:cubicBezTo>
                  <a:close/>
                </a:path>
              </a:pathLst>
            </a:custGeom>
            <a:solidFill>
              <a:srgbClr val="FFF6EB"/>
            </a:solidFill>
            <a:ln w="22878" cap="sq">
              <a:solidFill>
                <a:srgbClr val="E08730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1525802" y="1878654"/>
            <a:ext cx="5019551" cy="381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0873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Average final price falls as discount rises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0–5%: ₹73,663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6–10%: ₹69,797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11–15%: ₹65,423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16–20%: ₹62,282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21–25%: ₹57,823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26–30%: ₹54,142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175844" y="6371492"/>
            <a:ext cx="5719467" cy="1875987"/>
            <a:chOff x="0" y="0"/>
            <a:chExt cx="7625956" cy="25013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5969" cy="2501392"/>
            </a:xfrm>
            <a:custGeom>
              <a:avLst/>
              <a:gdLst/>
              <a:ahLst/>
              <a:cxnLst/>
              <a:rect r="r" b="b" t="t" l="l"/>
              <a:pathLst>
                <a:path h="2501392" w="7625969">
                  <a:moveTo>
                    <a:pt x="0" y="416941"/>
                  </a:moveTo>
                  <a:cubicBezTo>
                    <a:pt x="0" y="186690"/>
                    <a:pt x="186690" y="0"/>
                    <a:pt x="416941" y="0"/>
                  </a:cubicBezTo>
                  <a:lnTo>
                    <a:pt x="7209028" y="0"/>
                  </a:lnTo>
                  <a:cubicBezTo>
                    <a:pt x="7439279" y="0"/>
                    <a:pt x="7625969" y="186690"/>
                    <a:pt x="7625969" y="416941"/>
                  </a:cubicBezTo>
                  <a:lnTo>
                    <a:pt x="7625969" y="2084451"/>
                  </a:lnTo>
                  <a:cubicBezTo>
                    <a:pt x="7625969" y="2314702"/>
                    <a:pt x="7439279" y="2501392"/>
                    <a:pt x="7209028" y="2501392"/>
                  </a:cubicBezTo>
                  <a:lnTo>
                    <a:pt x="416941" y="2501392"/>
                  </a:lnTo>
                  <a:cubicBezTo>
                    <a:pt x="186690" y="2501265"/>
                    <a:pt x="0" y="2314702"/>
                    <a:pt x="0" y="2084451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1525802" y="6545742"/>
            <a:ext cx="5019551" cy="147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Interpret carefully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an observed association in the dataset—not proof that discounts alone cause lower transaction values.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247079"/>
            <a:chOff x="0" y="0"/>
            <a:chExt cx="24402453" cy="3294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329438"/>
            </a:xfrm>
            <a:custGeom>
              <a:avLst/>
              <a:gdLst/>
              <a:ahLst/>
              <a:cxnLst/>
              <a:rect r="r" b="b" t="t" l="l"/>
              <a:pathLst>
                <a:path h="32943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329438"/>
                  </a:lnTo>
                  <a:lnTo>
                    <a:pt x="0" y="329438"/>
                  </a:lnTo>
                  <a:close/>
                </a:path>
              </a:pathLst>
            </a:custGeom>
            <a:solidFill>
              <a:srgbClr val="2668A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3675" y="491138"/>
            <a:ext cx="16151924" cy="739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Takeaways &amp; Business 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29969" y="593665"/>
            <a:ext cx="3042904" cy="41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|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8214" y="1723463"/>
            <a:ext cx="9563090" cy="674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Prioritize product mix and basket-size analysis: product price and quantity are the strongest observed drivers of final value.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 customer segment for differentiated commercial strategies; Premium customers show higher average transaction value.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Treat discounting as a pricing lever to be optimized, since higher discount bands coincide with lower average final value.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Monitor Fashion returns, while recognizing that category-level return-rate differences are relatively small.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Investigate high-value outliers before removal; they may represent legitimate revenue opportunities.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• Do not rely on customer age or delivery time alone to explain transaction value.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50374" y="1978933"/>
            <a:ext cx="5307663" cy="2562320"/>
            <a:chOff x="0" y="0"/>
            <a:chExt cx="7076884" cy="34164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76949" cy="3416427"/>
            </a:xfrm>
            <a:custGeom>
              <a:avLst/>
              <a:gdLst/>
              <a:ahLst/>
              <a:cxnLst/>
              <a:rect r="r" b="b" t="t" l="l"/>
              <a:pathLst>
                <a:path h="3416427" w="7076949">
                  <a:moveTo>
                    <a:pt x="0" y="569468"/>
                  </a:moveTo>
                  <a:cubicBezTo>
                    <a:pt x="0" y="254889"/>
                    <a:pt x="254889" y="0"/>
                    <a:pt x="569468" y="0"/>
                  </a:cubicBezTo>
                  <a:lnTo>
                    <a:pt x="6507480" y="0"/>
                  </a:lnTo>
                  <a:cubicBezTo>
                    <a:pt x="6821932" y="0"/>
                    <a:pt x="7076949" y="254889"/>
                    <a:pt x="7076949" y="569468"/>
                  </a:cubicBezTo>
                  <a:lnTo>
                    <a:pt x="7076949" y="2846959"/>
                  </a:lnTo>
                  <a:cubicBezTo>
                    <a:pt x="7076949" y="3161411"/>
                    <a:pt x="6822060" y="3416427"/>
                    <a:pt x="6507480" y="3416427"/>
                  </a:cubicBezTo>
                  <a:lnTo>
                    <a:pt x="569468" y="3416427"/>
                  </a:lnTo>
                  <a:cubicBezTo>
                    <a:pt x="254889" y="3416427"/>
                    <a:pt x="0" y="3161538"/>
                    <a:pt x="0" y="2846959"/>
                  </a:cubicBezTo>
                  <a:close/>
                </a:path>
              </a:pathLst>
            </a:custGeom>
            <a:solidFill>
              <a:srgbClr val="EEF7F4"/>
            </a:solidFill>
            <a:ln w="22878" cap="sq">
              <a:solidFill>
                <a:srgbClr val="408C5D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1800332" y="2153193"/>
            <a:ext cx="4607747" cy="216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408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message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The EDA converts 100,000 raw transactions into a clear picture of pricing, basket size, customer value, discount behavior, returns and delivery.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450374" y="5204717"/>
            <a:ext cx="5307663" cy="2562320"/>
            <a:chOff x="0" y="0"/>
            <a:chExt cx="7076884" cy="34164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76949" cy="3416427"/>
            </a:xfrm>
            <a:custGeom>
              <a:avLst/>
              <a:gdLst/>
              <a:ahLst/>
              <a:cxnLst/>
              <a:rect r="r" b="b" t="t" l="l"/>
              <a:pathLst>
                <a:path h="3416427" w="7076949">
                  <a:moveTo>
                    <a:pt x="0" y="569468"/>
                  </a:moveTo>
                  <a:cubicBezTo>
                    <a:pt x="0" y="254889"/>
                    <a:pt x="254889" y="0"/>
                    <a:pt x="569468" y="0"/>
                  </a:cubicBezTo>
                  <a:lnTo>
                    <a:pt x="6507480" y="0"/>
                  </a:lnTo>
                  <a:cubicBezTo>
                    <a:pt x="6821932" y="0"/>
                    <a:pt x="7076949" y="254889"/>
                    <a:pt x="7076949" y="569468"/>
                  </a:cubicBezTo>
                  <a:lnTo>
                    <a:pt x="7076949" y="2846959"/>
                  </a:lnTo>
                  <a:cubicBezTo>
                    <a:pt x="7076949" y="3161411"/>
                    <a:pt x="6822060" y="3416427"/>
                    <a:pt x="6507480" y="3416427"/>
                  </a:cubicBezTo>
                  <a:lnTo>
                    <a:pt x="569468" y="3416427"/>
                  </a:lnTo>
                  <a:cubicBezTo>
                    <a:pt x="254889" y="3416427"/>
                    <a:pt x="0" y="3161538"/>
                    <a:pt x="0" y="2846959"/>
                  </a:cubicBezTo>
                  <a:close/>
                </a:path>
              </a:pathLst>
            </a:custGeom>
            <a:solidFill>
              <a:srgbClr val="E8F1FA"/>
            </a:solidFill>
            <a:ln w="22878" cap="sq">
              <a:solidFill>
                <a:srgbClr val="2668A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1800332" y="5378968"/>
            <a:ext cx="4607747" cy="216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2668A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Next analytical step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23272B"/>
                </a:solidFill>
                <a:latin typeface="Calibri (MS)"/>
                <a:ea typeface="Calibri (MS)"/>
                <a:cs typeface="Calibri (MS)"/>
                <a:sym typeface="Calibri (MS)"/>
              </a:rPr>
              <a:t>A natural extension would be predictive modeling or dashboarding to estimate transaction value, return risk or customer value.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2235" y="9787157"/>
            <a:ext cx="16472068" cy="13726"/>
            <a:chOff x="0" y="0"/>
            <a:chExt cx="21962758" cy="183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62745" cy="18288"/>
            </a:xfrm>
            <a:custGeom>
              <a:avLst/>
              <a:gdLst/>
              <a:ahLst/>
              <a:cxnLst/>
              <a:rect r="r" b="b" t="t" l="l"/>
              <a:pathLst>
                <a:path h="18288" w="21962745">
                  <a:moveTo>
                    <a:pt x="0" y="0"/>
                  </a:moveTo>
                  <a:lnTo>
                    <a:pt x="21962745" y="0"/>
                  </a:lnTo>
                  <a:lnTo>
                    <a:pt x="2196274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DCE0E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3675" y="9868729"/>
            <a:ext cx="1560285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F6976"/>
                </a:solidFill>
                <a:latin typeface="Calibri (MS)"/>
                <a:ea typeface="Calibri (MS)"/>
                <a:cs typeface="Calibri (MS)"/>
                <a:sym typeface="Calibri (MS)"/>
              </a:rPr>
              <a:t>Retail EDA Project  |  Nakshatra Agrawal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63508" y="9818027"/>
            <a:ext cx="709355" cy="280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5F6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67726" y="3681418"/>
            <a:ext cx="5810945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22"/>
              </a:lnSpc>
            </a:pPr>
            <a:r>
              <a:rPr lang="en-US" sz="10601" b="true">
                <a:solidFill>
                  <a:srgbClr val="1220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DAHV7WQf1Kk</dc:identifier>
  <dcterms:modified xsi:type="dcterms:W3CDTF">2011-08-01T06:04:30Z</dcterms:modified>
  <cp:revision>1</cp:revision>
  <dc:title>Retail_EDA_Project_Presentation_Nakshatra_Agrawal.pptx</dc:title>
</cp:coreProperties>
</file>